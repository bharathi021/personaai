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7431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12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7.png"/><Relationship Id="rId5" Type="http://schemas.openxmlformats.org/officeDocument/2006/relationships/image" Target="../media/image10.png"/><Relationship Id="rId10" Type="http://schemas.openxmlformats.org/officeDocument/2006/relationships/image" Target="../media/image13.png"/><Relationship Id="rId4" Type="http://schemas.openxmlformats.org/officeDocument/2006/relationships/image" Target="../media/image9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9728"/>
            <a:ext cx="2103120" cy="54864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280160"/>
            <a:ext cx="3291840" cy="192024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1"/>
          <p:cNvSpPr/>
          <p:nvPr/>
        </p:nvSpPr>
        <p:spPr>
          <a:xfrm>
            <a:off x="274320" y="1371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Startup </a:t>
            </a:r>
            <a:r>
              <a:rPr lang="en-US" sz="2200" b="1" dirty="0">
                <a:solidFill>
                  <a:srgbClr val="00C6FF"/>
                </a:solidFill>
              </a:rPr>
              <a:t>"முதல் படி"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74320" y="5943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F4FF"/>
                </a:solidFill>
              </a:rPr>
              <a:t>Idea Level Hackathon 2026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274320" y="1115568"/>
            <a:ext cx="4937760" cy="36576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/>
          <p:nvPr/>
        </p:nvSpPr>
        <p:spPr>
          <a:xfrm>
            <a:off x="274320" y="123444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PersonaAI</a:t>
            </a:r>
            <a:endParaRPr lang="en-US" sz="4200" dirty="0"/>
          </a:p>
        </p:txBody>
      </p:sp>
      <p:sp>
        <p:nvSpPr>
          <p:cNvPr id="9" name="Text 5"/>
          <p:cNvSpPr/>
          <p:nvPr/>
        </p:nvSpPr>
        <p:spPr>
          <a:xfrm>
            <a:off x="274320" y="199339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0C6FF"/>
                </a:solidFill>
              </a:rPr>
              <a:t>Predictive Intelligence for Human Performance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274320" y="2606040"/>
            <a:ext cx="2377440" cy="548640"/>
          </a:xfrm>
          <a:prstGeom prst="rect">
            <a:avLst/>
          </a:prstGeom>
          <a:solidFill>
            <a:srgbClr val="1A3A6B"/>
          </a:solidFill>
          <a:ln w="6350">
            <a:solidFill>
              <a:srgbClr val="00C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7"/>
          <p:cNvSpPr/>
          <p:nvPr/>
        </p:nvSpPr>
        <p:spPr>
          <a:xfrm>
            <a:off x="274320" y="26334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C6FF"/>
                </a:solidFill>
              </a:rPr>
              <a:t>THEME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274320" y="28620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Best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880360" y="2606040"/>
            <a:ext cx="2377440" cy="548640"/>
          </a:xfrm>
          <a:prstGeom prst="rect">
            <a:avLst/>
          </a:prstGeom>
          <a:solidFill>
            <a:srgbClr val="1A3A6B"/>
          </a:solidFill>
          <a:ln w="6350">
            <a:solidFill>
              <a:srgbClr val="00C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2880360" y="26334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C6FF"/>
                </a:solidFill>
              </a:rPr>
              <a:t>CATEGORY</a:t>
            </a:r>
            <a:endParaRPr lang="en-US" sz="700" dirty="0"/>
          </a:p>
        </p:txBody>
      </p:sp>
      <p:sp>
        <p:nvSpPr>
          <p:cNvPr id="15" name="Text 11"/>
          <p:cNvSpPr/>
          <p:nvPr/>
        </p:nvSpPr>
        <p:spPr>
          <a:xfrm>
            <a:off x="2880360" y="28620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Software / AI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274320" y="3264408"/>
            <a:ext cx="2377440" cy="548640"/>
          </a:xfrm>
          <a:prstGeom prst="rect">
            <a:avLst/>
          </a:prstGeom>
          <a:solidFill>
            <a:srgbClr val="1A3A6B"/>
          </a:solidFill>
          <a:ln w="6350">
            <a:solidFill>
              <a:srgbClr val="00C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274320" y="32918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C6FF"/>
                </a:solidFill>
              </a:rPr>
              <a:t>TEAM ID</a:t>
            </a:r>
            <a:endParaRPr lang="en-US" sz="700" dirty="0"/>
          </a:p>
        </p:txBody>
      </p:sp>
      <p:sp>
        <p:nvSpPr>
          <p:cNvPr id="18" name="Text 14"/>
          <p:cNvSpPr/>
          <p:nvPr/>
        </p:nvSpPr>
        <p:spPr>
          <a:xfrm>
            <a:off x="274320" y="35204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SMP25_1140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2880360" y="3264408"/>
            <a:ext cx="2377440" cy="548640"/>
          </a:xfrm>
          <a:prstGeom prst="rect">
            <a:avLst/>
          </a:prstGeom>
          <a:solidFill>
            <a:srgbClr val="1A3A6B"/>
          </a:solidFill>
          <a:ln w="6350">
            <a:solidFill>
              <a:srgbClr val="00C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2880360" y="32918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C6FF"/>
                </a:solidFill>
              </a:rPr>
              <a:t>TEAM NAME</a:t>
            </a:r>
            <a:endParaRPr lang="en-US" sz="700" dirty="0"/>
          </a:p>
        </p:txBody>
      </p:sp>
      <p:sp>
        <p:nvSpPr>
          <p:cNvPr id="21" name="Text 17"/>
          <p:cNvSpPr/>
          <p:nvPr/>
        </p:nvSpPr>
        <p:spPr>
          <a:xfrm>
            <a:off x="2880360" y="35204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404 Found Us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274320" y="3922776"/>
            <a:ext cx="2377440" cy="548640"/>
          </a:xfrm>
          <a:prstGeom prst="rect">
            <a:avLst/>
          </a:prstGeom>
          <a:solidFill>
            <a:srgbClr val="1A3A6B"/>
          </a:solidFill>
          <a:ln w="6350">
            <a:solidFill>
              <a:srgbClr val="00C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9"/>
          <p:cNvSpPr/>
          <p:nvPr/>
        </p:nvSpPr>
        <p:spPr>
          <a:xfrm>
            <a:off x="274320" y="39502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C6FF"/>
                </a:solidFill>
              </a:rPr>
              <a:t>MENTOR</a:t>
            </a:r>
            <a:endParaRPr lang="en-US" sz="700" dirty="0"/>
          </a:p>
        </p:txBody>
      </p:sp>
      <p:sp>
        <p:nvSpPr>
          <p:cNvPr id="24" name="Text 20"/>
          <p:cNvSpPr/>
          <p:nvPr/>
        </p:nvSpPr>
        <p:spPr>
          <a:xfrm>
            <a:off x="274320" y="41788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Dr. M. Sakthi Asvini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2880360" y="3922776"/>
            <a:ext cx="2377440" cy="548640"/>
          </a:xfrm>
          <a:prstGeom prst="rect">
            <a:avLst/>
          </a:prstGeom>
          <a:solidFill>
            <a:srgbClr val="1A3A6B"/>
          </a:solidFill>
          <a:ln w="6350">
            <a:solidFill>
              <a:srgbClr val="00C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2"/>
          <p:cNvSpPr/>
          <p:nvPr/>
        </p:nvSpPr>
        <p:spPr>
          <a:xfrm>
            <a:off x="2880360" y="395020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C6FF"/>
                </a:solidFill>
              </a:rPr>
              <a:t>DATE</a:t>
            </a:r>
            <a:endParaRPr lang="en-US" sz="700" dirty="0"/>
          </a:p>
        </p:txBody>
      </p:sp>
      <p:sp>
        <p:nvSpPr>
          <p:cNvPr id="27" name="Text 23"/>
          <p:cNvSpPr/>
          <p:nvPr/>
        </p:nvSpPr>
        <p:spPr>
          <a:xfrm>
            <a:off x="2880360" y="41788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28-03-2026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9" name="Picture 3">
            <a:extLst>
              <a:ext uri="{FF2B5EF4-FFF2-40B4-BE49-F238E27FC236}">
                <a16:creationId xmlns:a16="http://schemas.microsoft.com/office/drawing/2014/main" id="{5F0298F1-A212-35A2-BBB0-875A680C18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1" y="109728"/>
            <a:ext cx="2103120" cy="548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" name="Picture 2">
            <a:extLst>
              <a:ext uri="{FF2B5EF4-FFF2-40B4-BE49-F238E27FC236}">
                <a16:creationId xmlns:a16="http://schemas.microsoft.com/office/drawing/2014/main" id="{7EFB33AC-B9AB-8329-8E48-BAE0F9967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1269093"/>
            <a:ext cx="3291840" cy="1931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09728"/>
            <a:ext cx="100584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64592" y="10972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3E"/>
                </a:solidFill>
              </a:rPr>
              <a:t>404 Found Us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45720"/>
            <a:ext cx="91440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8503920" y="4846320"/>
            <a:ext cx="457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0" y="749808"/>
            <a:ext cx="91440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274320" y="749808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IDEA TITLE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274320" y="148132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</a:rPr>
              <a:t>PersonaAI — Predictive Intelligence for Human Performance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28600" y="1920240"/>
            <a:ext cx="274320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1B3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228600" y="1920240"/>
            <a:ext cx="2743200" cy="2926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93852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12648" y="19385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It Does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38328" y="2304288"/>
            <a:ext cx="2514600" cy="2240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950" dirty="0">
                <a:solidFill>
                  <a:srgbClr val="334155"/>
                </a:solidFill>
              </a:rPr>
              <a:t>Analyzes real-world behavior patterns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950" dirty="0">
                <a:solidFill>
                  <a:srgbClr val="334155"/>
                </a:solidFill>
              </a:rPr>
              <a:t>Maps skills against live industry demands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950" dirty="0">
                <a:solidFill>
                  <a:srgbClr val="334155"/>
                </a:solidFill>
              </a:rPr>
              <a:t>Predicts outcome likelihood for target roles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950" dirty="0">
                <a:solidFill>
                  <a:srgbClr val="334155"/>
                </a:solidFill>
              </a:rPr>
              <a:t>Generates step-by-step execution roadmaps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154680" y="1920240"/>
            <a:ext cx="274320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B91C1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3154680" y="1920240"/>
            <a:ext cx="2743200" cy="29260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6120" y="1938528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538728" y="19385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Problem It Solves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3264408" y="2304288"/>
            <a:ext cx="2514600" cy="2240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950" dirty="0">
                <a:solidFill>
                  <a:srgbClr val="334155"/>
                </a:solidFill>
              </a:rPr>
              <a:t>Knowledge ≠ Performance gap is unaddressed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950" dirty="0">
                <a:solidFill>
                  <a:srgbClr val="334155"/>
                </a:solidFill>
              </a:rPr>
              <a:t>No tools simulate real-world job readiness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950" dirty="0">
                <a:solidFill>
                  <a:srgbClr val="334155"/>
                </a:solidFill>
              </a:rPr>
              <a:t>Generic advice ignores individual behavior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950" dirty="0">
                <a:solidFill>
                  <a:srgbClr val="334155"/>
                </a:solidFill>
              </a:rPr>
              <a:t>Learners lack actionable, data-driven direction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6080760" y="1920240"/>
            <a:ext cx="274320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F4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6080760" y="1920240"/>
            <a:ext cx="2743200" cy="29260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1938528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464808" y="19385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Why It's Unique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6190488" y="2304288"/>
            <a:ext cx="2514600" cy="2240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950" dirty="0">
                <a:solidFill>
                  <a:srgbClr val="334155"/>
                </a:solidFill>
              </a:rPr>
              <a:t>Predicts outcomes — not just tracks progress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950" dirty="0">
                <a:solidFill>
                  <a:srgbClr val="334155"/>
                </a:solidFill>
              </a:rPr>
              <a:t>Combines behavioral + skill intelligence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950" dirty="0">
                <a:solidFill>
                  <a:srgbClr val="334155"/>
                </a:solidFill>
              </a:rPr>
              <a:t>Role-specific, context-aware gap analysis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950" dirty="0">
                <a:solidFill>
                  <a:srgbClr val="334155"/>
                </a:solidFill>
              </a:rPr>
              <a:t>Privacy-first: local data processing</a:t>
            </a:r>
            <a:endParaRPr lang="en-US" sz="950" dirty="0"/>
          </a:p>
        </p:txBody>
      </p:sp>
      <p:pic>
        <p:nvPicPr>
          <p:cNvPr id="25" name="Picture 2">
            <a:extLst>
              <a:ext uri="{FF2B5EF4-FFF2-40B4-BE49-F238E27FC236}">
                <a16:creationId xmlns:a16="http://schemas.microsoft.com/office/drawing/2014/main" id="{3A5BE52C-30DC-A065-9D50-F2E145E333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3080" y="45720"/>
            <a:ext cx="919480" cy="566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09728"/>
            <a:ext cx="100584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64592" y="10972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3E"/>
                </a:solidFill>
              </a:rPr>
              <a:t>404 Found Us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45720"/>
            <a:ext cx="91440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8503920" y="4846320"/>
            <a:ext cx="457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0" y="749808"/>
            <a:ext cx="91440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274320" y="749808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TECHNICAL / METHODOLOGICAL APPROACH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228600" y="1508760"/>
            <a:ext cx="4023360" cy="3200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228600" y="15087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🛠  Tech Stack &amp; Tools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28600" y="1901952"/>
            <a:ext cx="4023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320040" y="190195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</a:rPr>
              <a:t>NLP Engine: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691640" y="19019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BERT / spaCy for skill extraction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28600" y="2340864"/>
            <a:ext cx="4023360" cy="384048"/>
          </a:xfrm>
          <a:prstGeom prst="rect">
            <a:avLst/>
          </a:prstGeom>
          <a:solidFill>
            <a:srgbClr val="EBF5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320040" y="234086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</a:rPr>
              <a:t>Behavioral Analytics: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691640" y="234086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Time-series pattern modeling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28600" y="2779776"/>
            <a:ext cx="4023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320040" y="277977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</a:rPr>
              <a:t>Prediction Layer: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691640" y="277977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Logistic Regression → ML scoring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28600" y="3218688"/>
            <a:ext cx="4023360" cy="384048"/>
          </a:xfrm>
          <a:prstGeom prst="rect">
            <a:avLst/>
          </a:prstGeom>
          <a:solidFill>
            <a:srgbClr val="EBF5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320040" y="321868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</a:rPr>
              <a:t>Frontend: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691640" y="32186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React.js + Tailwind CSS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228600" y="3657600"/>
            <a:ext cx="4023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320040" y="365760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</a:rPr>
              <a:t>Backend: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691640" y="36576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Python FastAPI + PostgreSQL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228600" y="4096512"/>
            <a:ext cx="4023360" cy="384048"/>
          </a:xfrm>
          <a:prstGeom prst="rect">
            <a:avLst/>
          </a:prstGeom>
          <a:solidFill>
            <a:srgbClr val="EBF5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320040" y="409651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</a:rPr>
              <a:t>Data Sources: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691640" y="409651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LinkedIn API, GitHub, job boards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572000" y="1508760"/>
            <a:ext cx="4343400" cy="3200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4572000" y="1508760"/>
            <a:ext cx="4343400" cy="32004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⚙  Implementation Flow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617720" y="1956816"/>
            <a:ext cx="274320" cy="274320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4617720" y="1956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</a:rPr>
              <a:t>1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4937760" y="1901952"/>
            <a:ext cx="3931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5047488" y="190195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</a:rPr>
              <a:t>User Onboarding: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6510528" y="190195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Resume, skills, role target input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4617720" y="2395728"/>
            <a:ext cx="274320" cy="274320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4617720" y="2395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</a:rPr>
              <a:t>2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4937760" y="2340864"/>
            <a:ext cx="3931920" cy="384048"/>
          </a:xfrm>
          <a:prstGeom prst="rect">
            <a:avLst/>
          </a:prstGeom>
          <a:solidFill>
            <a:srgbClr val="EBF5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/>
          <p:nvPr/>
        </p:nvSpPr>
        <p:spPr>
          <a:xfrm>
            <a:off x="5047488" y="234086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</a:rPr>
              <a:t>Behavior Tracking: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6510528" y="234086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Monitor tasks, time, consistency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617720" y="2834640"/>
            <a:ext cx="274320" cy="274320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/>
          <p:nvPr/>
        </p:nvSpPr>
        <p:spPr>
          <a:xfrm>
            <a:off x="4617720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</a:rPr>
              <a:t>3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4937760" y="2779776"/>
            <a:ext cx="3931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1"/>
          <p:cNvSpPr/>
          <p:nvPr/>
        </p:nvSpPr>
        <p:spPr>
          <a:xfrm>
            <a:off x="5047488" y="277977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</a:rPr>
              <a:t>Skill Gap Analysis: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6510528" y="277977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Compare vs live industry data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4617720" y="3273552"/>
            <a:ext cx="274320" cy="274320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4"/>
          <p:cNvSpPr/>
          <p:nvPr/>
        </p:nvSpPr>
        <p:spPr>
          <a:xfrm>
            <a:off x="4617720" y="3273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</a:rPr>
              <a:t>4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4937760" y="3218688"/>
            <a:ext cx="3931920" cy="384048"/>
          </a:xfrm>
          <a:prstGeom prst="rect">
            <a:avLst/>
          </a:prstGeom>
          <a:solidFill>
            <a:srgbClr val="EBF5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6"/>
          <p:cNvSpPr/>
          <p:nvPr/>
        </p:nvSpPr>
        <p:spPr>
          <a:xfrm>
            <a:off x="5047488" y="321868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</a:rPr>
              <a:t>Outcome Prediction: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6510528" y="321868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Simulate readiness score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4617720" y="3712464"/>
            <a:ext cx="274320" cy="274320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49"/>
          <p:cNvSpPr/>
          <p:nvPr/>
        </p:nvSpPr>
        <p:spPr>
          <a:xfrm>
            <a:off x="4617720" y="3712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</a:rPr>
              <a:t>5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4937760" y="3657600"/>
            <a:ext cx="3931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1"/>
          <p:cNvSpPr/>
          <p:nvPr/>
        </p:nvSpPr>
        <p:spPr>
          <a:xfrm>
            <a:off x="5047488" y="36576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</a:rPr>
              <a:t>Action Roadmap: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6510528" y="36576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Personalized step-by-step plan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4617720" y="4151376"/>
            <a:ext cx="274320" cy="274320"/>
          </a:xfrm>
          <a:prstGeom prst="ellipse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4"/>
          <p:cNvSpPr/>
          <p:nvPr/>
        </p:nvSpPr>
        <p:spPr>
          <a:xfrm>
            <a:off x="4617720" y="4151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</a:rPr>
              <a:t>6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4937760" y="4096512"/>
            <a:ext cx="3931920" cy="384048"/>
          </a:xfrm>
          <a:prstGeom prst="rect">
            <a:avLst/>
          </a:prstGeom>
          <a:solidFill>
            <a:srgbClr val="EBF5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6"/>
          <p:cNvSpPr/>
          <p:nvPr/>
        </p:nvSpPr>
        <p:spPr>
          <a:xfrm>
            <a:off x="5047488" y="409651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</a:rPr>
              <a:t>Continuous Learning: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6510528" y="40965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Model improves with usage</a:t>
            </a:r>
            <a:endParaRPr lang="en-US" sz="900" dirty="0"/>
          </a:p>
        </p:txBody>
      </p:sp>
      <p:pic>
        <p:nvPicPr>
          <p:cNvPr id="61" name="Picture 2">
            <a:extLst>
              <a:ext uri="{FF2B5EF4-FFF2-40B4-BE49-F238E27FC236}">
                <a16:creationId xmlns:a16="http://schemas.microsoft.com/office/drawing/2014/main" id="{0161493D-8A29-E6D9-9003-F75683FD4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8159" y="45720"/>
            <a:ext cx="914401" cy="548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09728"/>
            <a:ext cx="100584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64592" y="10972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3E"/>
                </a:solidFill>
              </a:rPr>
              <a:t>404 Found Us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45720"/>
            <a:ext cx="91440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8503920" y="4846320"/>
            <a:ext cx="457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0" y="749808"/>
            <a:ext cx="91440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274320" y="749808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FEASIBILITY AND VIABILITY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74320" y="1499616"/>
            <a:ext cx="27432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27432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C6FF"/>
                </a:solidFill>
              </a:rPr>
              <a:t>95%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274320" y="202996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Users lack personalized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performance guidance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218688" y="1536192"/>
            <a:ext cx="2743200" cy="91440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3218688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C6FF"/>
                </a:solidFill>
              </a:rPr>
              <a:t>3x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3218688" y="202996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Faster skill gap closure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vs generic tools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163056" y="1536192"/>
            <a:ext cx="2743200" cy="91440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163056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C6FF"/>
                </a:solidFill>
              </a:rPr>
              <a:t>$12B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6163056" y="202996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Addressable market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in EdTech + HRTech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274320" y="2606040"/>
            <a:ext cx="2743200" cy="2057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274320" y="2606040"/>
            <a:ext cx="2743200" cy="2926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624328"/>
            <a:ext cx="219456" cy="21945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21792" y="2624328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Feasibility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365760" y="2944368"/>
            <a:ext cx="2560320" cy="1645920"/>
          </a:xfrm>
          <a:prstGeom prst="rect">
            <a:avLst/>
          </a:prstGeom>
          <a:noFill/>
          <a:ln/>
        </p:spPr>
        <p:txBody>
          <a:bodyPr wrap="square" lIns="25400" tIns="50800" rIns="25400" bIns="25400" rtlCol="0" anchor="t"/>
          <a:lstStyle/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950" dirty="0">
                <a:solidFill>
                  <a:srgbClr val="334155"/>
                </a:solidFill>
              </a:rPr>
              <a:t>MVP buildable in 72 hours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950" dirty="0">
                <a:solidFill>
                  <a:srgbClr val="334155"/>
                </a:solidFill>
              </a:rPr>
              <a:t>Lightweight NLP + rule-based logic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950" dirty="0">
                <a:solidFill>
                  <a:srgbClr val="334155"/>
                </a:solidFill>
              </a:rPr>
              <a:t>No heavy infrastructure needed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950" dirty="0">
                <a:solidFill>
                  <a:srgbClr val="334155"/>
                </a:solidFill>
              </a:rPr>
              <a:t>Cold-start solved via onboarding quiz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3218688" y="2606040"/>
            <a:ext cx="2743200" cy="2057400"/>
          </a:xfrm>
          <a:prstGeom prst="rect">
            <a:avLst/>
          </a:prstGeom>
          <a:solidFill>
            <a:srgbClr val="FFFFFF"/>
          </a:solidFill>
          <a:ln w="1905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0"/>
          <p:cNvSpPr/>
          <p:nvPr/>
        </p:nvSpPr>
        <p:spPr>
          <a:xfrm>
            <a:off x="3218688" y="2606040"/>
            <a:ext cx="2743200" cy="292608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2624328"/>
            <a:ext cx="219456" cy="21945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3566160" y="2624328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Challenges &amp; Mitigation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3310128" y="2944368"/>
            <a:ext cx="2560320" cy="1645920"/>
          </a:xfrm>
          <a:prstGeom prst="rect">
            <a:avLst/>
          </a:prstGeom>
          <a:noFill/>
          <a:ln/>
        </p:spPr>
        <p:txBody>
          <a:bodyPr wrap="square" lIns="25400" tIns="50800" rIns="25400" bIns="25400" rtlCol="0" anchor="t"/>
          <a:lstStyle/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950" dirty="0">
                <a:solidFill>
                  <a:srgbClr val="334155"/>
                </a:solidFill>
              </a:rPr>
              <a:t>Data privacy → local processing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950" dirty="0">
                <a:solidFill>
                  <a:srgbClr val="334155"/>
                </a:solidFill>
              </a:rPr>
              <a:t>Cold start → hybrid init strategy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950" dirty="0">
                <a:solidFill>
                  <a:srgbClr val="334155"/>
                </a:solidFill>
              </a:rPr>
              <a:t>Model bias → diverse training sets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950" dirty="0">
                <a:solidFill>
                  <a:srgbClr val="334155"/>
                </a:solidFill>
              </a:rPr>
              <a:t>Adoption → freemium entry model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6163056" y="2606040"/>
            <a:ext cx="2743200" cy="2057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4"/>
          <p:cNvSpPr/>
          <p:nvPr/>
        </p:nvSpPr>
        <p:spPr>
          <a:xfrm>
            <a:off x="6163056" y="2606040"/>
            <a:ext cx="2743200" cy="29260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4496" y="2624328"/>
            <a:ext cx="219456" cy="219456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510528" y="2624328"/>
            <a:ext cx="2286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Revenue Model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6254496" y="2944368"/>
            <a:ext cx="2560320" cy="1645920"/>
          </a:xfrm>
          <a:prstGeom prst="rect">
            <a:avLst/>
          </a:prstGeom>
          <a:noFill/>
          <a:ln/>
        </p:spPr>
        <p:txBody>
          <a:bodyPr wrap="square" lIns="25400" tIns="50800" rIns="25400" bIns="25400" rtlCol="0" anchor="t"/>
          <a:lstStyle/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950" dirty="0">
                <a:solidFill>
                  <a:srgbClr val="334155"/>
                </a:solidFill>
              </a:rPr>
              <a:t>Freemium: basic insights free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950" dirty="0">
                <a:solidFill>
                  <a:srgbClr val="334155"/>
                </a:solidFill>
              </a:rPr>
              <a:t>Premium: advanced roadmaps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950" dirty="0">
                <a:solidFill>
                  <a:srgbClr val="334155"/>
                </a:solidFill>
              </a:rPr>
              <a:t>Enterprise: workforce analytics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950" dirty="0">
                <a:solidFill>
                  <a:srgbClr val="334155"/>
                </a:solidFill>
              </a:rPr>
              <a:t>API: recruit platform integration</a:t>
            </a:r>
            <a:endParaRPr lang="en-US" sz="950" dirty="0"/>
          </a:p>
        </p:txBody>
      </p:sp>
      <p:pic>
        <p:nvPicPr>
          <p:cNvPr id="33" name="Picture 2">
            <a:extLst>
              <a:ext uri="{FF2B5EF4-FFF2-40B4-BE49-F238E27FC236}">
                <a16:creationId xmlns:a16="http://schemas.microsoft.com/office/drawing/2014/main" id="{DAB6E160-2D4B-EDC0-41D2-5764384F83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8160" y="45719"/>
            <a:ext cx="914400" cy="5577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109728"/>
            <a:ext cx="100584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64592" y="10972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3E"/>
                </a:solidFill>
              </a:rPr>
              <a:t>404 Found Us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45720"/>
            <a:ext cx="91440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8503920" y="4846320"/>
            <a:ext cx="457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0" y="749808"/>
            <a:ext cx="91440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274320" y="749808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IMPACT AND BENEFITS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28600" y="1536192"/>
            <a:ext cx="8686800" cy="29260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228600" y="1536192"/>
            <a:ext cx="8686800" cy="29260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👥  Target Audience &amp; Impact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28600" y="1920240"/>
            <a:ext cx="201168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C6F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196596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28600" y="23591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</a:rPr>
              <a:t>Students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228600" y="2615184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</a:rPr>
              <a:t>Identifies skill gaps early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</a:rPr>
              <a:t>Reduces exam-to-career shock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2423160" y="1920240"/>
            <a:ext cx="201168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C6F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2968" y="196596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423160" y="23591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</a:rPr>
              <a:t>Job Seekers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2423160" y="2615184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</a:rPr>
              <a:t>Predicts interview readiness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</a:rPr>
              <a:t>Cuts job-hunt time by 40%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4617720" y="1920240"/>
            <a:ext cx="201168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C6F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7528" y="1965960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617720" y="23591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</a:rPr>
              <a:t>Professionals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4617720" y="2615184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</a:rPr>
              <a:t>Detects burnout signals early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</a:rPr>
              <a:t>Aligns tasks to peak focus</a:t>
            </a:r>
            <a:endParaRPr lang="en-US" sz="850" dirty="0"/>
          </a:p>
        </p:txBody>
      </p:sp>
      <p:sp>
        <p:nvSpPr>
          <p:cNvPr id="23" name="Shape 17"/>
          <p:cNvSpPr/>
          <p:nvPr/>
        </p:nvSpPr>
        <p:spPr>
          <a:xfrm>
            <a:off x="6812280" y="1920240"/>
            <a:ext cx="201168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C6F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62088" y="1965960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812280" y="23591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</a:rPr>
              <a:t>Organizations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6812280" y="2615184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</a:rPr>
              <a:t>Assesses workforce capability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</a:rPr>
              <a:t>Designs targeted training</a:t>
            </a:r>
            <a:endParaRPr lang="en-US" sz="850" dirty="0"/>
          </a:p>
        </p:txBody>
      </p:sp>
      <p:sp>
        <p:nvSpPr>
          <p:cNvPr id="27" name="Shape 20"/>
          <p:cNvSpPr/>
          <p:nvPr/>
        </p:nvSpPr>
        <p:spPr>
          <a:xfrm>
            <a:off x="228600" y="3429000"/>
            <a:ext cx="8686800" cy="29260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1"/>
          <p:cNvSpPr/>
          <p:nvPr/>
        </p:nvSpPr>
        <p:spPr>
          <a:xfrm>
            <a:off x="228600" y="3429000"/>
            <a:ext cx="8686800" cy="29260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🌟  Key Benefits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228600" y="3794760"/>
            <a:ext cx="4206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3886200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67512" y="3794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Behavioral Intelligence:</a:t>
            </a:r>
            <a:endParaRPr lang="en-US" sz="950" dirty="0"/>
          </a:p>
        </p:txBody>
      </p:sp>
      <p:sp>
        <p:nvSpPr>
          <p:cNvPr id="32" name="Text 24"/>
          <p:cNvSpPr/>
          <p:nvPr/>
        </p:nvSpPr>
        <p:spPr>
          <a:xfrm>
            <a:off x="2057400" y="3794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Detects focus, fatigue &amp; productivity in real time</a:t>
            </a:r>
            <a:endParaRPr lang="en-US" sz="900" dirty="0"/>
          </a:p>
        </p:txBody>
      </p:sp>
      <p:sp>
        <p:nvSpPr>
          <p:cNvPr id="33" name="Shape 25"/>
          <p:cNvSpPr/>
          <p:nvPr/>
        </p:nvSpPr>
        <p:spPr>
          <a:xfrm>
            <a:off x="4663440" y="3794760"/>
            <a:ext cx="4206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4880" y="3886200"/>
            <a:ext cx="274320" cy="27432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5102352" y="3794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Outcome Prediction:</a:t>
            </a:r>
            <a:endParaRPr lang="en-US" sz="950" dirty="0"/>
          </a:p>
        </p:txBody>
      </p:sp>
      <p:sp>
        <p:nvSpPr>
          <p:cNvPr id="36" name="Text 27"/>
          <p:cNvSpPr/>
          <p:nvPr/>
        </p:nvSpPr>
        <p:spPr>
          <a:xfrm>
            <a:off x="6492240" y="3794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Simulates role success before you apply</a:t>
            </a:r>
            <a:endParaRPr lang="en-US" sz="900" dirty="0"/>
          </a:p>
        </p:txBody>
      </p:sp>
      <p:sp>
        <p:nvSpPr>
          <p:cNvPr id="37" name="Shape 28"/>
          <p:cNvSpPr/>
          <p:nvPr/>
        </p:nvSpPr>
        <p:spPr>
          <a:xfrm>
            <a:off x="228600" y="4306824"/>
            <a:ext cx="4206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040" y="4398264"/>
            <a:ext cx="274320" cy="27432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667512" y="430682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Privacy-First Design:</a:t>
            </a:r>
            <a:endParaRPr lang="en-US" sz="950" dirty="0"/>
          </a:p>
        </p:txBody>
      </p:sp>
      <p:sp>
        <p:nvSpPr>
          <p:cNvPr id="40" name="Text 30"/>
          <p:cNvSpPr/>
          <p:nvPr/>
        </p:nvSpPr>
        <p:spPr>
          <a:xfrm>
            <a:off x="2057400" y="43068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Sensitive data processed locally, never shared</a:t>
            </a:r>
            <a:endParaRPr lang="en-US" sz="900" dirty="0"/>
          </a:p>
        </p:txBody>
      </p:sp>
      <p:sp>
        <p:nvSpPr>
          <p:cNvPr id="41" name="Shape 31"/>
          <p:cNvSpPr/>
          <p:nvPr/>
        </p:nvSpPr>
        <p:spPr>
          <a:xfrm>
            <a:off x="4663440" y="4306824"/>
            <a:ext cx="4206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54880" y="4398264"/>
            <a:ext cx="274320" cy="274320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5102352" y="430682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Adaptive Roadmaps:</a:t>
            </a:r>
            <a:endParaRPr lang="en-US" sz="950" dirty="0"/>
          </a:p>
        </p:txBody>
      </p:sp>
      <p:sp>
        <p:nvSpPr>
          <p:cNvPr id="44" name="Text 33"/>
          <p:cNvSpPr/>
          <p:nvPr/>
        </p:nvSpPr>
        <p:spPr>
          <a:xfrm>
            <a:off x="6492240" y="43068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</a:rPr>
              <a:t>Plans adjust dynamically to your behavior</a:t>
            </a:r>
            <a:endParaRPr lang="en-US" sz="900" dirty="0"/>
          </a:p>
        </p:txBody>
      </p:sp>
      <p:pic>
        <p:nvPicPr>
          <p:cNvPr id="45" name="Picture 2">
            <a:extLst>
              <a:ext uri="{FF2B5EF4-FFF2-40B4-BE49-F238E27FC236}">
                <a16:creationId xmlns:a16="http://schemas.microsoft.com/office/drawing/2014/main" id="{18BBEDCF-7918-B107-DC42-E971726621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8160" y="45719"/>
            <a:ext cx="914400" cy="548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45720"/>
            <a:ext cx="914400" cy="54864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840480" y="91440"/>
            <a:ext cx="1463040" cy="457200"/>
          </a:xfrm>
          <a:prstGeom prst="ellipse">
            <a:avLst/>
          </a:prstGeom>
          <a:solidFill>
            <a:srgbClr val="0D1B3E">
              <a:alpha val="0"/>
            </a:srgbClr>
          </a:solidFill>
          <a:ln w="19050">
            <a:solidFill>
              <a:srgbClr val="00C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1"/>
          <p:cNvSpPr/>
          <p:nvPr/>
        </p:nvSpPr>
        <p:spPr>
          <a:xfrm>
            <a:off x="3840480" y="91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6FF"/>
                </a:solidFill>
              </a:rPr>
              <a:t>404 Found Us</a:t>
            </a:r>
            <a:endParaRPr lang="en-US" sz="900" dirty="0"/>
          </a:p>
        </p:txBody>
      </p:sp>
      <p:sp>
        <p:nvSpPr>
          <p:cNvPr id="6" name="Shape 2"/>
          <p:cNvSpPr/>
          <p:nvPr/>
        </p:nvSpPr>
        <p:spPr>
          <a:xfrm>
            <a:off x="0" y="749808"/>
            <a:ext cx="9144000" cy="6400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3"/>
          <p:cNvSpPr/>
          <p:nvPr/>
        </p:nvSpPr>
        <p:spPr>
          <a:xfrm>
            <a:off x="274320" y="749808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RESEARCH &amp; REFERENCES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228600" y="1554480"/>
            <a:ext cx="4114800" cy="29260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228600" y="15544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📚  Research Foundation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28600" y="1920240"/>
            <a:ext cx="4114800" cy="457200"/>
          </a:xfrm>
          <a:prstGeom prst="rect">
            <a:avLst/>
          </a:prstGeom>
          <a:solidFill>
            <a:srgbClr val="0F2A5A"/>
          </a:solidFill>
          <a:ln w="635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7"/>
          <p:cNvSpPr/>
          <p:nvPr/>
        </p:nvSpPr>
        <p:spPr>
          <a:xfrm>
            <a:off x="347472" y="1920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6FF"/>
                </a:solidFill>
              </a:rPr>
              <a:t>Behavioral Analytics: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737360" y="1920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F"/>
                </a:solidFill>
              </a:rPr>
              <a:t>Fogg, B.J. — Persuasive Technology (2003)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228600" y="2432304"/>
            <a:ext cx="4114800" cy="457200"/>
          </a:xfrm>
          <a:prstGeom prst="rect">
            <a:avLst/>
          </a:prstGeom>
          <a:solidFill>
            <a:srgbClr val="0F2A5A"/>
          </a:solidFill>
          <a:ln w="635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347472" y="243230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6FF"/>
                </a:solidFill>
              </a:rPr>
              <a:t>Skill Gap Analysis: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737360" y="243230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F"/>
                </a:solidFill>
              </a:rPr>
              <a:t>World Economic Forum — Future of Jobs (2023)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228600" y="2944368"/>
            <a:ext cx="4114800" cy="457200"/>
          </a:xfrm>
          <a:prstGeom prst="rect">
            <a:avLst/>
          </a:prstGeom>
          <a:solidFill>
            <a:srgbClr val="0F2A5A"/>
          </a:solidFill>
          <a:ln w="635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347472" y="29443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6FF"/>
                </a:solidFill>
              </a:rPr>
              <a:t>Outcome Prediction: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737360" y="29443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F"/>
                </a:solidFill>
              </a:rPr>
              <a:t>Bandura — Self-efficacy theory (1997)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228600" y="3456432"/>
            <a:ext cx="4114800" cy="457200"/>
          </a:xfrm>
          <a:prstGeom prst="rect">
            <a:avLst/>
          </a:prstGeom>
          <a:solidFill>
            <a:srgbClr val="0F2A5A"/>
          </a:solidFill>
          <a:ln w="635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/>
          <p:nvPr/>
        </p:nvSpPr>
        <p:spPr>
          <a:xfrm>
            <a:off x="347472" y="34564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6FF"/>
                </a:solidFill>
              </a:rPr>
              <a:t>NLP for Resumes: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737360" y="34564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F"/>
                </a:solidFill>
              </a:rPr>
              <a:t>BERT: Pre-training of Deep Bidirectional Transformers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228600" y="3968496"/>
            <a:ext cx="4114800" cy="457200"/>
          </a:xfrm>
          <a:prstGeom prst="rect">
            <a:avLst/>
          </a:prstGeom>
          <a:solidFill>
            <a:srgbClr val="0F2A5A"/>
          </a:solidFill>
          <a:ln w="635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9"/>
          <p:cNvSpPr/>
          <p:nvPr/>
        </p:nvSpPr>
        <p:spPr>
          <a:xfrm>
            <a:off x="347472" y="396849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6FF"/>
                </a:solidFill>
              </a:rPr>
              <a:t>EdTech Personalization: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737360" y="396849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F"/>
                </a:solidFill>
              </a:rPr>
              <a:t>Bloom's 2 Sigma Problem — tutoring effectiveness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4663440" y="1554480"/>
            <a:ext cx="4251960" cy="29260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2"/>
          <p:cNvSpPr/>
          <p:nvPr/>
        </p:nvSpPr>
        <p:spPr>
          <a:xfrm>
            <a:off x="4663440" y="1554480"/>
            <a:ext cx="4251960" cy="29260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🔗  Tools &amp; API References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663440" y="1920240"/>
            <a:ext cx="4251960" cy="384048"/>
          </a:xfrm>
          <a:prstGeom prst="rect">
            <a:avLst/>
          </a:prstGeom>
          <a:solidFill>
            <a:srgbClr val="0F2A5A"/>
          </a:solidFill>
          <a:ln w="635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4"/>
          <p:cNvSpPr/>
          <p:nvPr/>
        </p:nvSpPr>
        <p:spPr>
          <a:xfrm>
            <a:off x="4754880" y="19202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6FF"/>
                </a:solidFill>
              </a:rPr>
              <a:t>›  LinkedIn API: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6263640" y="19202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8F4FF"/>
                </a:solidFill>
              </a:rPr>
              <a:t>developer.linkedin.com/docs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4663440" y="2350008"/>
            <a:ext cx="4251960" cy="384048"/>
          </a:xfrm>
          <a:prstGeom prst="rect">
            <a:avLst/>
          </a:prstGeom>
          <a:solidFill>
            <a:srgbClr val="0F2A5A"/>
          </a:solidFill>
          <a:ln w="635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7"/>
          <p:cNvSpPr/>
          <p:nvPr/>
        </p:nvSpPr>
        <p:spPr>
          <a:xfrm>
            <a:off x="4754880" y="235000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6FF"/>
                </a:solidFill>
              </a:rPr>
              <a:t>›  GitHub REST API: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6263640" y="23500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8F4FF"/>
                </a:solidFill>
              </a:rPr>
              <a:t>docs.github.com/en/rest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4663440" y="2779776"/>
            <a:ext cx="4251960" cy="384048"/>
          </a:xfrm>
          <a:prstGeom prst="rect">
            <a:avLst/>
          </a:prstGeom>
          <a:solidFill>
            <a:srgbClr val="0F2A5A"/>
          </a:solidFill>
          <a:ln w="635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0"/>
          <p:cNvSpPr/>
          <p:nvPr/>
        </p:nvSpPr>
        <p:spPr>
          <a:xfrm>
            <a:off x="4754880" y="277977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6FF"/>
                </a:solidFill>
              </a:rPr>
              <a:t>›  Hugging Face: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6263640" y="277977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8F4FF"/>
                </a:solidFill>
              </a:rPr>
              <a:t>huggingface.co/docs/transformers</a:t>
            </a:r>
            <a:endParaRPr lang="en-US" sz="850" dirty="0"/>
          </a:p>
        </p:txBody>
      </p:sp>
      <p:sp>
        <p:nvSpPr>
          <p:cNvPr id="36" name="Shape 32"/>
          <p:cNvSpPr/>
          <p:nvPr/>
        </p:nvSpPr>
        <p:spPr>
          <a:xfrm>
            <a:off x="4663440" y="3209544"/>
            <a:ext cx="4251960" cy="384048"/>
          </a:xfrm>
          <a:prstGeom prst="rect">
            <a:avLst/>
          </a:prstGeom>
          <a:solidFill>
            <a:srgbClr val="0F2A5A"/>
          </a:solidFill>
          <a:ln w="635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3"/>
          <p:cNvSpPr/>
          <p:nvPr/>
        </p:nvSpPr>
        <p:spPr>
          <a:xfrm>
            <a:off x="4754880" y="320954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6FF"/>
                </a:solidFill>
              </a:rPr>
              <a:t>›  FastAPI: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6263640" y="320954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8F4FF"/>
                </a:solidFill>
              </a:rPr>
              <a:t>fastapi.tiangolo.com</a:t>
            </a:r>
            <a:endParaRPr lang="en-US" sz="850" dirty="0"/>
          </a:p>
        </p:txBody>
      </p:sp>
      <p:sp>
        <p:nvSpPr>
          <p:cNvPr id="39" name="Shape 35"/>
          <p:cNvSpPr/>
          <p:nvPr/>
        </p:nvSpPr>
        <p:spPr>
          <a:xfrm>
            <a:off x="4663440" y="3639312"/>
            <a:ext cx="4251960" cy="384048"/>
          </a:xfrm>
          <a:prstGeom prst="rect">
            <a:avLst/>
          </a:prstGeom>
          <a:solidFill>
            <a:srgbClr val="0F2A5A"/>
          </a:solidFill>
          <a:ln w="635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6"/>
          <p:cNvSpPr/>
          <p:nvPr/>
        </p:nvSpPr>
        <p:spPr>
          <a:xfrm>
            <a:off x="4754880" y="363931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6FF"/>
                </a:solidFill>
              </a:rPr>
              <a:t>›  React.js: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6263640" y="363931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8F4FF"/>
                </a:solidFill>
              </a:rPr>
              <a:t>react.dev/learn</a:t>
            </a:r>
            <a:endParaRPr lang="en-US" sz="850" dirty="0"/>
          </a:p>
        </p:txBody>
      </p:sp>
      <p:sp>
        <p:nvSpPr>
          <p:cNvPr id="42" name="Shape 38"/>
          <p:cNvSpPr/>
          <p:nvPr/>
        </p:nvSpPr>
        <p:spPr>
          <a:xfrm>
            <a:off x="4663440" y="4069080"/>
            <a:ext cx="4251960" cy="384048"/>
          </a:xfrm>
          <a:prstGeom prst="rect">
            <a:avLst/>
          </a:prstGeom>
          <a:solidFill>
            <a:srgbClr val="0F2A5A"/>
          </a:solidFill>
          <a:ln w="635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39"/>
          <p:cNvSpPr/>
          <p:nvPr/>
        </p:nvSpPr>
        <p:spPr>
          <a:xfrm>
            <a:off x="4754880" y="40690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6FF"/>
                </a:solidFill>
              </a:rPr>
              <a:t>›  spaCy NLP:</a:t>
            </a:r>
            <a:endParaRPr lang="en-US" sz="900" dirty="0"/>
          </a:p>
        </p:txBody>
      </p:sp>
      <p:sp>
        <p:nvSpPr>
          <p:cNvPr id="44" name="Text 40"/>
          <p:cNvSpPr/>
          <p:nvPr/>
        </p:nvSpPr>
        <p:spPr>
          <a:xfrm>
            <a:off x="6263640" y="40690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8F4FF"/>
                </a:solidFill>
              </a:rPr>
              <a:t>spacy.io/usage</a:t>
            </a:r>
            <a:endParaRPr lang="en-US" sz="850" dirty="0"/>
          </a:p>
        </p:txBody>
      </p:sp>
      <p:sp>
        <p:nvSpPr>
          <p:cNvPr id="45" name="Shape 41"/>
          <p:cNvSpPr/>
          <p:nvPr/>
        </p:nvSpPr>
        <p:spPr>
          <a:xfrm>
            <a:off x="228600" y="4434840"/>
            <a:ext cx="8686800" cy="32004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2"/>
          <p:cNvSpPr/>
          <p:nvPr/>
        </p:nvSpPr>
        <p:spPr>
          <a:xfrm>
            <a:off x="228600" y="44348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0D1B3E"/>
                </a:solidFill>
              </a:rPr>
              <a:t>PersonaAI — Bridging the gap between knowledge and action through predictive intelligence.</a:t>
            </a:r>
            <a:endParaRPr lang="en-US" sz="1000" dirty="0"/>
          </a:p>
        </p:txBody>
      </p:sp>
      <p:sp>
        <p:nvSpPr>
          <p:cNvPr id="47" name="Shape 4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4"/>
          <p:cNvSpPr/>
          <p:nvPr/>
        </p:nvSpPr>
        <p:spPr>
          <a:xfrm>
            <a:off x="8503920" y="4846320"/>
            <a:ext cx="457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pic>
        <p:nvPicPr>
          <p:cNvPr id="49" name="Picture 2">
            <a:extLst>
              <a:ext uri="{FF2B5EF4-FFF2-40B4-BE49-F238E27FC236}">
                <a16:creationId xmlns:a16="http://schemas.microsoft.com/office/drawing/2014/main" id="{DFF95EE0-94C9-1169-24BB-4C2B9DB723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7360" y="45720"/>
            <a:ext cx="919480" cy="548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0" name="Shape 0">
            <a:extLst>
              <a:ext uri="{FF2B5EF4-FFF2-40B4-BE49-F238E27FC236}">
                <a16:creationId xmlns:a16="http://schemas.microsoft.com/office/drawing/2014/main" id="{C7577316-2088-29F7-AC0A-5077178ABF96}"/>
              </a:ext>
            </a:extLst>
          </p:cNvPr>
          <p:cNvSpPr/>
          <p:nvPr/>
        </p:nvSpPr>
        <p:spPr>
          <a:xfrm>
            <a:off x="164591" y="91440"/>
            <a:ext cx="1100101" cy="52577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A3A6B"/>
            </a:solidFill>
            <a:prstDash val="solid"/>
          </a:ln>
        </p:spPr>
        <p:txBody>
          <a:bodyPr anchor="ctr"/>
          <a:lstStyle/>
          <a:p>
            <a:endParaRPr lang="en-US" sz="800" b="1" dirty="0">
              <a:solidFill>
                <a:srgbClr val="0D1B3E"/>
              </a:solidFill>
            </a:endParaRPr>
          </a:p>
          <a:p>
            <a:endParaRPr lang="en-US" sz="800" b="1" dirty="0">
              <a:solidFill>
                <a:srgbClr val="0D1B3E"/>
              </a:solidFill>
            </a:endParaRPr>
          </a:p>
          <a:p>
            <a:r>
              <a:rPr lang="en-US" sz="800" b="1" dirty="0">
                <a:solidFill>
                  <a:srgbClr val="0D1B3E"/>
                </a:solidFill>
              </a:rPr>
              <a:t>404 Found Us</a:t>
            </a:r>
            <a:endParaRPr lang="en-US" sz="800" b="1" dirty="0"/>
          </a:p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587</Words>
  <Application>Microsoft Office PowerPoint</Application>
  <PresentationFormat>On-screen Show (16:9)</PresentationFormat>
  <Paragraphs>159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PersonaAI — Predictive Intelligence for Human Performance</dc:title>
  <dc:subject>PptxGenJS Presentation</dc:subject>
  <dc:creator>PptxGenJS</dc:creator>
  <cp:lastModifiedBy>Bharathi E</cp:lastModifiedBy>
  <cp:revision>2</cp:revision>
  <dcterms:created xsi:type="dcterms:W3CDTF">2026-03-27T16:12:08Z</dcterms:created>
  <dcterms:modified xsi:type="dcterms:W3CDTF">2026-03-27T16:32:33Z</dcterms:modified>
</cp:coreProperties>
</file>